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898" y="1101310"/>
            <a:ext cx="482203" cy="428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2003403"/>
            <a:ext cx="6429375" cy="7304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4353" b="1" spc="3" kern="0" dirty="0">
                <a:solidFill>
                  <a:srgbClr val="00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FLOODBEATER2</a:t>
            </a:r>
            <a:endParaRPr lang="en-US" sz="4353" dirty="0"/>
          </a:p>
        </p:txBody>
      </p:sp>
      <p:sp>
        <p:nvSpPr>
          <p:cNvPr id="5" name="Text 1"/>
          <p:cNvSpPr/>
          <p:nvPr/>
        </p:nvSpPr>
        <p:spPr>
          <a:xfrm>
            <a:off x="1357313" y="2876727"/>
            <a:ext cx="6429375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Inovação em Segurança e Mobilidade Urbana: Monitoramento inteligente, rotas seguras e suporte inclusivo.</a:t>
            </a:r>
            <a:endParaRPr lang="en-US" sz="1704" dirty="0"/>
          </a:p>
        </p:txBody>
      </p:sp>
      <p:sp>
        <p:nvSpPr>
          <p:cNvPr id="6" name="Text 2"/>
          <p:cNvSpPr/>
          <p:nvPr/>
        </p:nvSpPr>
        <p:spPr>
          <a:xfrm>
            <a:off x="3221831" y="4122530"/>
            <a:ext cx="2700338" cy="34647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TECNOLOGIA A SERVIÇO DA VIDA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DESAFIO DOS ALAGAMENTOS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15746"/>
            <a:ext cx="4208311" cy="2127386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1715784"/>
            <a:ext cx="392256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Impacto Socioeconômico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714375" y="2037252"/>
            <a:ext cx="392256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Alagamentos recorrentes geram crises humanitárias e econômicas severas no Brasil.</a:t>
            </a:r>
            <a:endParaRPr lang="en-US" sz="834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471570"/>
            <a:ext cx="3921919" cy="107156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3686008"/>
            <a:ext cx="4208311" cy="1191555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714375" y="3986045"/>
            <a:ext cx="392256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Vulnerabilidade Social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714375" y="4307514"/>
            <a:ext cx="392256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falta de infraestrutura inclusiva agrava o risco para grupos específicos como PCDs e idosos.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714375" y="4741831"/>
            <a:ext cx="39225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00A8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"A invisibilidade desses grupos custa vidas."</a:t>
            </a:r>
            <a:endParaRPr lang="en-US" sz="727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561" y="1623250"/>
            <a:ext cx="3535514" cy="28860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65561" y="4580762"/>
            <a:ext cx="350693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Impacto de Alagamentos em Áreas Urbanas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 DE DADOS OFICIAIS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15746"/>
            <a:ext cx="1388734" cy="291108"/>
          </a:xfrm>
          <a:prstGeom prst="rect">
            <a:avLst/>
          </a:prstGeom>
          <a:noFill/>
          <a:ln/>
        </p:spPr>
        <p:txBody>
          <a:bodyPr wrap="square" lIns="8509" tIns="8509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Fonte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1960234" y="1415746"/>
            <a:ext cx="3240416" cy="291108"/>
          </a:xfrm>
          <a:prstGeom prst="rect">
            <a:avLst/>
          </a:prstGeom>
          <a:noFill/>
          <a:ln/>
        </p:spPr>
        <p:txBody>
          <a:bodyPr wrap="square" lIns="8509" tIns="8509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Contribuição</a:t>
            </a:r>
            <a:endParaRPr lang="en-US" sz="88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4" y="1865802"/>
            <a:ext cx="176808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6889" y="1856873"/>
            <a:ext cx="5536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A8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SiMCosta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1960234" y="1706854"/>
            <a:ext cx="3240416" cy="646509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Dados oceanográficos e meteorológicos em tempo real (marés, ondas, ventos).</a:t>
            </a:r>
            <a:endParaRPr lang="en-US" sz="942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44" y="2505168"/>
            <a:ext cx="176808" cy="157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6889" y="2496238"/>
            <a:ext cx="500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A8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Marinha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1960234" y="2353363"/>
            <a:ext cx="3240416" cy="642938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Avisos oficiais de mau tempo e cartas sinóticas para segurança.</a:t>
            </a:r>
            <a:endParaRPr lang="en-US" sz="942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44" y="3148106"/>
            <a:ext cx="176808" cy="1571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6889" y="3139176"/>
            <a:ext cx="2839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A8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IBGE</a:t>
            </a:r>
            <a:endParaRPr lang="en-US" sz="885" dirty="0"/>
          </a:p>
        </p:txBody>
      </p:sp>
      <p:sp>
        <p:nvSpPr>
          <p:cNvPr id="14" name="Text 8"/>
          <p:cNvSpPr/>
          <p:nvPr/>
        </p:nvSpPr>
        <p:spPr>
          <a:xfrm>
            <a:off x="1960234" y="2996301"/>
            <a:ext cx="3240416" cy="642938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de áreas de risco e dados demográficos de vulnerabilidade.</a:t>
            </a:r>
            <a:endParaRPr lang="en-US" sz="942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415746"/>
            <a:ext cx="3114675" cy="28860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86400" y="4373259"/>
            <a:ext cx="308610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Exemplo de Estação de Monitoramento Costeiro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ALERTAS INTELIGENTES E PERSONALIZADOS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15746"/>
            <a:ext cx="4208311" cy="1023677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856147"/>
            <a:ext cx="295182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2432" y="1701496"/>
            <a:ext cx="34845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8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GEOLOCALIZAÇÃO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1152432" y="2005106"/>
            <a:ext cx="348450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Monitoramento em tempo real da posição do usuário para alertas hiper-locais.</a:t>
            </a:r>
            <a:endParaRPr lang="en-US" sz="834" dirty="0"/>
          </a:p>
        </p:txBody>
      </p:sp>
      <p:sp>
        <p:nvSpPr>
          <p:cNvPr id="8" name="Shape 4"/>
          <p:cNvSpPr/>
          <p:nvPr/>
        </p:nvSpPr>
        <p:spPr>
          <a:xfrm>
            <a:off x="571500" y="2582298"/>
            <a:ext cx="4208311" cy="1023677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022699"/>
            <a:ext cx="357188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14438" y="2868048"/>
            <a:ext cx="342249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8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PERFIL DO USUÁRIO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1214438" y="3171658"/>
            <a:ext cx="342249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Notificações adaptadas às necessidades individuais (surdos, cegos, cadeirantes).</a:t>
            </a:r>
            <a:endParaRPr lang="en-US" sz="834" dirty="0"/>
          </a:p>
        </p:txBody>
      </p:sp>
      <p:sp>
        <p:nvSpPr>
          <p:cNvPr id="12" name="Shape 7"/>
          <p:cNvSpPr/>
          <p:nvPr/>
        </p:nvSpPr>
        <p:spPr>
          <a:xfrm>
            <a:off x="571500" y="3748850"/>
            <a:ext cx="4208311" cy="1023677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4189251"/>
            <a:ext cx="296214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53464" y="4034600"/>
            <a:ext cx="348347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8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ALGORITMO PREDITIVO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1153464" y="4338210"/>
            <a:ext cx="348347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Cruzamento de dados oficiais com a topografia local para prever alagamentos.</a:t>
            </a:r>
            <a:endParaRPr lang="en-US" sz="834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561" y="1577876"/>
            <a:ext cx="3521227" cy="28717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65561" y="4521101"/>
            <a:ext cx="350693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Interface de Monitoramento em Tempo Real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ROTAS DE FUGA OTIMIZADAS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15746"/>
            <a:ext cx="3871913" cy="3475602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1743466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8694" y="1715784"/>
            <a:ext cx="20716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Inteligência de Rota</a:t>
            </a:r>
            <a:endParaRPr lang="en-US" sz="119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2028323"/>
            <a:ext cx="150019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4406" y="2237333"/>
            <a:ext cx="33504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Topográfica</a:t>
            </a:r>
            <a:endParaRPr lang="en-US" sz="1090" dirty="0"/>
          </a:p>
        </p:txBody>
      </p:sp>
      <p:sp>
        <p:nvSpPr>
          <p:cNvPr id="9" name="Text 4"/>
          <p:cNvSpPr/>
          <p:nvPr/>
        </p:nvSpPr>
        <p:spPr>
          <a:xfrm>
            <a:off x="964406" y="2487364"/>
            <a:ext cx="335041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F0F4F8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sistema cruza dados de elevação do terreno com a previsão de acúmulo de água.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2894558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85838" y="3103569"/>
            <a:ext cx="33289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Prioridade de Segurança</a:t>
            </a:r>
            <a:endParaRPr lang="en-US" sz="1090" dirty="0"/>
          </a:p>
        </p:txBody>
      </p:sp>
      <p:sp>
        <p:nvSpPr>
          <p:cNvPr id="12" name="Text 6"/>
          <p:cNvSpPr/>
          <p:nvPr/>
        </p:nvSpPr>
        <p:spPr>
          <a:xfrm>
            <a:off x="985838" y="3353600"/>
            <a:ext cx="332898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F0F4F8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Evita automaticamente vias com histórico de alagamento ou bueiros obstruídos.</a:t>
            </a:r>
            <a:endParaRPr lang="en-US" sz="942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8" y="3760794"/>
            <a:ext cx="17145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85838" y="3969804"/>
            <a:ext cx="33289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Atualização Dinâmica</a:t>
            </a:r>
            <a:endParaRPr lang="en-US" sz="1090" dirty="0"/>
          </a:p>
        </p:txBody>
      </p:sp>
      <p:sp>
        <p:nvSpPr>
          <p:cNvPr id="15" name="Text 8"/>
          <p:cNvSpPr/>
          <p:nvPr/>
        </p:nvSpPr>
        <p:spPr>
          <a:xfrm>
            <a:off x="985838" y="4219835"/>
            <a:ext cx="332898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F0F4F8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Recálculo em tempo real conforme a evolução das condições climáticas.</a:t>
            </a:r>
            <a:endParaRPr lang="en-US" sz="942" dirty="0"/>
          </a:p>
        </p:txBody>
      </p:sp>
      <p:sp>
        <p:nvSpPr>
          <p:cNvPr id="16" name="Shape 9"/>
          <p:cNvSpPr/>
          <p:nvPr/>
        </p:nvSpPr>
        <p:spPr>
          <a:xfrm>
            <a:off x="4700588" y="1415746"/>
            <a:ext cx="3871913" cy="3475602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175" y="1743466"/>
            <a:ext cx="107156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043488" y="1715784"/>
            <a:ext cx="21752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Benefícios ao Cidadão</a:t>
            </a:r>
            <a:endParaRPr lang="en-US" sz="1193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2028323"/>
            <a:ext cx="171450" cy="1714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14925" y="2237333"/>
            <a:ext cx="33289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Caminho Seco Garantido</a:t>
            </a:r>
            <a:endParaRPr lang="en-US" sz="1090" dirty="0"/>
          </a:p>
        </p:txBody>
      </p:sp>
      <p:sp>
        <p:nvSpPr>
          <p:cNvPr id="21" name="Text 12"/>
          <p:cNvSpPr/>
          <p:nvPr/>
        </p:nvSpPr>
        <p:spPr>
          <a:xfrm>
            <a:off x="5114925" y="2487364"/>
            <a:ext cx="332898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F0F4F8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Direcionamento para as vias que permanecem transitáveis por mais tempo.</a:t>
            </a:r>
            <a:endParaRPr lang="en-US" sz="942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175" y="2894558"/>
            <a:ext cx="171450" cy="17145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14925" y="3103569"/>
            <a:ext cx="33289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Acessibilidade Nativa</a:t>
            </a:r>
            <a:endParaRPr lang="en-US" sz="1090" dirty="0"/>
          </a:p>
        </p:txBody>
      </p:sp>
      <p:sp>
        <p:nvSpPr>
          <p:cNvPr id="24" name="Text 14"/>
          <p:cNvSpPr/>
          <p:nvPr/>
        </p:nvSpPr>
        <p:spPr>
          <a:xfrm>
            <a:off x="5114925" y="3353600"/>
            <a:ext cx="332898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F0F4F8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Filtros para rotas sem escadas ou obstáculos para cadeirantes e idosos.</a:t>
            </a:r>
            <a:endParaRPr lang="en-US" sz="942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9175" y="3760794"/>
            <a:ext cx="192881" cy="17145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136356" y="3969804"/>
            <a:ext cx="33075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Destinos Estratégicos</a:t>
            </a:r>
            <a:endParaRPr lang="en-US" sz="1090" dirty="0"/>
          </a:p>
        </p:txBody>
      </p:sp>
      <p:sp>
        <p:nvSpPr>
          <p:cNvPr id="27" name="Text 16"/>
          <p:cNvSpPr/>
          <p:nvPr/>
        </p:nvSpPr>
        <p:spPr>
          <a:xfrm>
            <a:off x="5136356" y="4219835"/>
            <a:ext cx="330755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F0F4F8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Conexão direta com abrigos municipais e pontos de apoio da Defesa Civil.</a:t>
            </a:r>
            <a:endParaRPr lang="en-US" sz="942" dirty="0"/>
          </a:p>
        </p:txBody>
      </p:sp>
      <p:sp>
        <p:nvSpPr>
          <p:cNvPr id="28" name="Shape 17"/>
          <p:cNvSpPr/>
          <p:nvPr/>
        </p:nvSpPr>
        <p:spPr>
          <a:xfrm>
            <a:off x="4829175" y="4669892"/>
            <a:ext cx="2003822" cy="221456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9" name="Text 18"/>
          <p:cNvSpPr/>
          <p:nvPr/>
        </p:nvSpPr>
        <p:spPr>
          <a:xfrm>
            <a:off x="4829175" y="4669892"/>
            <a:ext cx="2003822" cy="221456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F2C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SEGURANÇA EM PRIMEIRO LUGAR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ACESSIBILIDADE: SURDOS E MUDOS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15746"/>
            <a:ext cx="4208311" cy="1023677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856147"/>
            <a:ext cx="297973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5223" y="1701496"/>
            <a:ext cx="34817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8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ALERTAS VISUAIS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1155223" y="2005106"/>
            <a:ext cx="34817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Flashes de LED e mudanças cromáticas de alto contraste para sinalizar perigo.</a:t>
            </a:r>
            <a:endParaRPr lang="en-US" sz="834" dirty="0"/>
          </a:p>
        </p:txBody>
      </p:sp>
      <p:sp>
        <p:nvSpPr>
          <p:cNvPr id="8" name="Shape 4"/>
          <p:cNvSpPr/>
          <p:nvPr/>
        </p:nvSpPr>
        <p:spPr>
          <a:xfrm>
            <a:off x="571500" y="2582298"/>
            <a:ext cx="4208311" cy="1023677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022699"/>
            <a:ext cx="297610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54860" y="2868048"/>
            <a:ext cx="348207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8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VIBRAÇÕES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1154860" y="3171658"/>
            <a:ext cx="348207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Padrões de vibração tátil distintos (Haptic Feedback) para identificação rápida.</a:t>
            </a:r>
            <a:endParaRPr lang="en-US" sz="834" dirty="0"/>
          </a:p>
        </p:txBody>
      </p:sp>
      <p:sp>
        <p:nvSpPr>
          <p:cNvPr id="12" name="Shape 7"/>
          <p:cNvSpPr/>
          <p:nvPr/>
        </p:nvSpPr>
        <p:spPr>
          <a:xfrm>
            <a:off x="571500" y="3748850"/>
            <a:ext cx="4208311" cy="1023677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4189251"/>
            <a:ext cx="292419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9669" y="4034600"/>
            <a:ext cx="34872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8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INTERFACE DE ÍCONES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1149669" y="4338210"/>
            <a:ext cx="34872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Comunicação baseada em símbolos universais para compreensão sob estresse.</a:t>
            </a:r>
            <a:endParaRPr lang="en-US" sz="834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561" y="1577876"/>
            <a:ext cx="3521227" cy="28717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65561" y="4521101"/>
            <a:ext cx="350693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Tecnologia Assistiva para Alertas Visuais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SUPORTE PARA DEFICIENTES VISUAIS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88328"/>
            <a:ext cx="2476481" cy="3143250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850" y="1774078"/>
            <a:ext cx="535781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2588465"/>
            <a:ext cx="20478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ÁUDIO DESCRIÇÃO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785813" y="2958154"/>
            <a:ext cx="2047856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Alertas sonoros detalhados que descrevem a gravidade da situação, a profundidade estimada da água e pontos de referência próximos para orientação espacial.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3333731" y="1488328"/>
            <a:ext cx="2476509" cy="3143250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238" y="1774078"/>
            <a:ext cx="321469" cy="428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48044" y="2588465"/>
            <a:ext cx="20478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NAVEGAÇÃO POR VOZ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3548044" y="2958154"/>
            <a:ext cx="2047884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Instruções passo a passo otimizadas para leitores de tela, guiando o usuário por rotas seguras e evitando obstáculos físicos detectados em tempo real.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6095991" y="1488328"/>
            <a:ext cx="2476481" cy="3143250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19" y="1774078"/>
            <a:ext cx="428625" cy="4286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10303" y="2588465"/>
            <a:ext cx="20478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FEEDBACK TÁTIL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6310303" y="2958154"/>
            <a:ext cx="2047856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Uso de padrões vibratórios distintos no smartphone para sinalizar a proximidade de áreas de risco ou confirmar que o usuário permanece na rota correta.</a:t>
            </a:r>
            <a:endParaRPr lang="en-US" sz="942" dirty="0"/>
          </a:p>
        </p:txBody>
      </p:sp>
      <p:sp>
        <p:nvSpPr>
          <p:cNvPr id="16" name="Text 10"/>
          <p:cNvSpPr/>
          <p:nvPr/>
        </p:nvSpPr>
        <p:spPr>
          <a:xfrm>
            <a:off x="571500" y="4545211"/>
            <a:ext cx="360938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TECNOLOGIA ASSISTIVA PARA AUTONOMIA E SEGURANÇA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REDE DE APOIO E SOLIDARIEDADE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01811" y="1415746"/>
            <a:ext cx="2757488" cy="2657475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1501471"/>
            <a:ext cx="446484" cy="3571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0398" y="2158696"/>
            <a:ext cx="2500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Pessoas com Deficiência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330398" y="2715909"/>
            <a:ext cx="250031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sistema identifica automaticamente usuários com necessidades especiais em áreas de risco, priorizando alertas e solicitações de auxílio.</a:t>
            </a:r>
            <a:endParaRPr lang="en-US" sz="94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234" y="2687334"/>
            <a:ext cx="116086" cy="18573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193256" y="1415746"/>
            <a:ext cx="2757488" cy="2657475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758" y="1501471"/>
            <a:ext cx="446484" cy="3571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321844" y="2158696"/>
            <a:ext cx="2500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Voluntários Próximos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3321844" y="2715909"/>
            <a:ext cx="250031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Vizinhos e voluntários recebem notificações em tempo real para prestar auxílio imediato (locomoção, comunicação ou abrigo).</a:t>
            </a:r>
            <a:endParaRPr lang="en-US" sz="942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9680" y="2687334"/>
            <a:ext cx="116086" cy="185738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6184702" y="1415746"/>
            <a:ext cx="2757488" cy="2657475"/>
          </a:xfrm>
          <a:prstGeom prst="rect">
            <a:avLst/>
          </a:prstGeom>
          <a:solidFill>
            <a:srgbClr val="F0F4F8">
              <a:alpha val="5000"/>
            </a:srgbClr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852" y="1501471"/>
            <a:ext cx="357188" cy="3571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313289" y="2158696"/>
            <a:ext cx="2500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Poder Público</a:t>
            </a:r>
            <a:endParaRPr lang="en-US" sz="1193" dirty="0"/>
          </a:p>
        </p:txBody>
      </p:sp>
      <p:sp>
        <p:nvSpPr>
          <p:cNvPr id="17" name="Text 9"/>
          <p:cNvSpPr/>
          <p:nvPr/>
        </p:nvSpPr>
        <p:spPr>
          <a:xfrm>
            <a:off x="6313289" y="2715909"/>
            <a:ext cx="250031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Integração com a Defesa Civil, fornecendo um mapa de calor de pessoas que necessitam de resgate, otimizando o tempo de resposta.</a:t>
            </a:r>
            <a:endParaRPr lang="en-US" sz="942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300" y="4241099"/>
            <a:ext cx="142875" cy="14287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2543175" y="4216096"/>
            <a:ext cx="42005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Tecnologia conectando pessoas para salvar vidas.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MELHORIAS E IMPACTOS REAIS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16890"/>
            <a:ext cx="2000250" cy="500063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Aspecto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2571750" y="1416890"/>
            <a:ext cx="2800350" cy="500063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Sistemas Tradicionais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5372100" y="1416890"/>
            <a:ext cx="3200400" cy="500063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FloodBeater2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1916953"/>
            <a:ext cx="2000250" cy="582216"/>
          </a:xfrm>
          <a:prstGeom prst="rect">
            <a:avLst/>
          </a:prstGeom>
          <a:noFill/>
          <a:ln/>
        </p:spPr>
        <p:txBody>
          <a:bodyPr wrap="square" lIns="8509" tIns="212598" rIns="8509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Foco de Atuação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2571750" y="1916953"/>
            <a:ext cx="2800350" cy="582216"/>
          </a:xfrm>
          <a:prstGeom prst="rect">
            <a:avLst/>
          </a:prstGeom>
          <a:noFill/>
          <a:ln/>
        </p:spPr>
        <p:txBody>
          <a:bodyPr wrap="square" lIns="8509" tIns="212598" rIns="8509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0F4F8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Geral e puramente técnico</a:t>
            </a:r>
            <a:endParaRPr lang="en-US" sz="1159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244" y="2133051"/>
            <a:ext cx="157163" cy="1571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07844" y="2102690"/>
            <a:ext cx="18359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A8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Personalizado e Humano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571500" y="2499168"/>
            <a:ext cx="2000250" cy="578644"/>
          </a:xfrm>
          <a:prstGeom prst="rect">
            <a:avLst/>
          </a:prstGeom>
          <a:noFill/>
          <a:ln/>
        </p:spPr>
        <p:txBody>
          <a:bodyPr wrap="square" lIns="8509" tIns="212598" rIns="8509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Acessibilidade</a:t>
            </a:r>
            <a:endParaRPr lang="en-US" sz="1090" dirty="0"/>
          </a:p>
        </p:txBody>
      </p:sp>
      <p:sp>
        <p:nvSpPr>
          <p:cNvPr id="12" name="Text 8"/>
          <p:cNvSpPr/>
          <p:nvPr/>
        </p:nvSpPr>
        <p:spPr>
          <a:xfrm>
            <a:off x="2571750" y="2499168"/>
            <a:ext cx="2800350" cy="578644"/>
          </a:xfrm>
          <a:prstGeom prst="rect">
            <a:avLst/>
          </a:prstGeom>
          <a:noFill/>
          <a:ln/>
        </p:spPr>
        <p:txBody>
          <a:bodyPr wrap="square" lIns="8509" tIns="212598" rIns="8509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0F4F8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Limitada ou inexistente</a:t>
            </a:r>
            <a:endParaRPr lang="en-US" sz="1159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244" y="2711695"/>
            <a:ext cx="157163" cy="1571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07844" y="2681334"/>
            <a:ext cx="200918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A8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Nativa e Abrangente (PCDs)</a:t>
            </a:r>
            <a:endParaRPr lang="en-US" sz="1090" dirty="0"/>
          </a:p>
        </p:txBody>
      </p:sp>
      <p:sp>
        <p:nvSpPr>
          <p:cNvPr id="15" name="Text 10"/>
          <p:cNvSpPr/>
          <p:nvPr/>
        </p:nvSpPr>
        <p:spPr>
          <a:xfrm>
            <a:off x="571500" y="3077812"/>
            <a:ext cx="2000250" cy="578644"/>
          </a:xfrm>
          <a:prstGeom prst="rect">
            <a:avLst/>
          </a:prstGeom>
          <a:noFill/>
          <a:ln/>
        </p:spPr>
        <p:txBody>
          <a:bodyPr wrap="square" lIns="8509" tIns="212598" rIns="8509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Cálculo de Rotas</a:t>
            </a:r>
            <a:endParaRPr lang="en-US" sz="1090" dirty="0"/>
          </a:p>
        </p:txBody>
      </p:sp>
      <p:sp>
        <p:nvSpPr>
          <p:cNvPr id="16" name="Text 11"/>
          <p:cNvSpPr/>
          <p:nvPr/>
        </p:nvSpPr>
        <p:spPr>
          <a:xfrm>
            <a:off x="2571750" y="3077812"/>
            <a:ext cx="2800350" cy="578644"/>
          </a:xfrm>
          <a:prstGeom prst="rect">
            <a:avLst/>
          </a:prstGeom>
          <a:noFill/>
          <a:ln/>
        </p:spPr>
        <p:txBody>
          <a:bodyPr wrap="square" lIns="8509" tIns="212598" rIns="8509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0F4F8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Caminho mais curto</a:t>
            </a:r>
            <a:endParaRPr lang="en-US" sz="1159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244" y="3290339"/>
            <a:ext cx="157163" cy="1571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07844" y="3259978"/>
            <a:ext cx="209133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A8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Caminho mais seguro e seco</a:t>
            </a:r>
            <a:endParaRPr lang="en-US" sz="1090" dirty="0"/>
          </a:p>
        </p:txBody>
      </p:sp>
      <p:sp>
        <p:nvSpPr>
          <p:cNvPr id="19" name="Text 13"/>
          <p:cNvSpPr/>
          <p:nvPr/>
        </p:nvSpPr>
        <p:spPr>
          <a:xfrm>
            <a:off x="571500" y="3656456"/>
            <a:ext cx="2000250" cy="578644"/>
          </a:xfrm>
          <a:prstGeom prst="rect">
            <a:avLst/>
          </a:prstGeom>
          <a:noFill/>
          <a:ln/>
        </p:spPr>
        <p:txBody>
          <a:bodyPr wrap="square" lIns="8509" tIns="212598" rIns="8509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0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Engajamento</a:t>
            </a:r>
            <a:endParaRPr lang="en-US" sz="1090" dirty="0"/>
          </a:p>
        </p:txBody>
      </p:sp>
      <p:sp>
        <p:nvSpPr>
          <p:cNvPr id="20" name="Text 14"/>
          <p:cNvSpPr/>
          <p:nvPr/>
        </p:nvSpPr>
        <p:spPr>
          <a:xfrm>
            <a:off x="2571750" y="3656456"/>
            <a:ext cx="2800350" cy="578644"/>
          </a:xfrm>
          <a:prstGeom prst="rect">
            <a:avLst/>
          </a:prstGeom>
          <a:noFill/>
          <a:ln/>
        </p:spPr>
        <p:txBody>
          <a:bodyPr wrap="square" lIns="8509" tIns="212598" rIns="8509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0F4F8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População passiva</a:t>
            </a:r>
            <a:endParaRPr lang="en-US" sz="1159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9244" y="3868982"/>
            <a:ext cx="157163" cy="1571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07844" y="3838622"/>
            <a:ext cx="24324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A8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Comunidade Ativa e Colaborativa</a:t>
            </a:r>
            <a:endParaRPr lang="en-US" sz="109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45853"/>
            <a:ext cx="128588" cy="1285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0088" y="4524422"/>
            <a:ext cx="5375672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Aumento estimado de 60% na eficiência de evacuação em áreas de risco.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4148" y="1082697"/>
            <a:ext cx="8495705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2" kern="0" dirty="0">
                <a:solidFill>
                  <a:srgbClr val="00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 A SERVIÇO DA VIDA</a:t>
            </a:r>
            <a:endParaRPr lang="en-US" sz="3294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63" y="1854222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64469" y="2375715"/>
            <a:ext cx="1785938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0F4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Dados Oficiais e Precisos</a:t>
            </a:r>
            <a:endParaRPr lang="en-US" sz="942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1854222"/>
            <a:ext cx="285750" cy="2857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79031" y="2375715"/>
            <a:ext cx="1785938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0F4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Inclusão e Acessibilidade</a:t>
            </a:r>
            <a:endParaRPr lang="en-US" sz="942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688" y="1854222"/>
            <a:ext cx="285750" cy="2857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893594" y="2375715"/>
            <a:ext cx="1785938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0F4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Resiliência Comunitária</a:t>
            </a:r>
            <a:endParaRPr lang="en-US" sz="942" dirty="0"/>
          </a:p>
        </p:txBody>
      </p:sp>
      <p:sp>
        <p:nvSpPr>
          <p:cNvPr id="10" name="Text 4"/>
          <p:cNvSpPr/>
          <p:nvPr/>
        </p:nvSpPr>
        <p:spPr>
          <a:xfrm>
            <a:off x="1357313" y="3200819"/>
            <a:ext cx="6429375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86" i="1" dirty="0">
                <a:solidFill>
                  <a:srgbClr val="F0F4F8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"O FloodBeater2 transforma dados técnicos em segurança humana, garantindo que a inovação tecnológica seja o alicerce para cidades mais resilientes e inclusivas."</a:t>
            </a:r>
            <a:endParaRPr lang="en-US" sz="1486" dirty="0"/>
          </a:p>
        </p:txBody>
      </p:sp>
      <p:sp>
        <p:nvSpPr>
          <p:cNvPr id="11" name="Text 5"/>
          <p:cNvSpPr/>
          <p:nvPr/>
        </p:nvSpPr>
        <p:spPr>
          <a:xfrm>
            <a:off x="2900363" y="4386681"/>
            <a:ext cx="3343275" cy="33932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A8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FLOODBEATER2: CONSTRUINDO O FUTURO HOJE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2026-03-05T00:17:53Z</dcterms:created>
  <dcterms:modified xsi:type="dcterms:W3CDTF">2026-03-05T00:17:53Z</dcterms:modified>
</cp:coreProperties>
</file>